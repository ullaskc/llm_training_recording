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Cross-Sell Targeting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Back-test on the 30 June snapshot and Q4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6E8"/>
                </a:solidFill>
                <a:latin typeface="Calibri"/>
              </a:rPr>
              <a:t>Data Science  ·  For: Head of CRM &amp; Cross-Sell  ·  Q4 planning, 15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Problem and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Cross-sell targeting model  ·  Data Science  ·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Calibri"/>
              </a:rPr>
              <a:t>•  </a:t>
            </a:r>
            <a:r>
              <a:rPr sz="1700" b="0">
                <a:solidFill>
                  <a:srgbClr val="262B33"/>
                </a:solidFill>
                <a:latin typeface="Calibri"/>
              </a:rPr>
              <a:t>Random contacts convert ~1 in 9; budget is 4,000 contacts at $4 each, $150 margin per extra product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Calibri"/>
              </a:rPr>
              <a:t>•  </a:t>
            </a:r>
            <a:r>
              <a:rPr sz="1700" b="0">
                <a:solidFill>
                  <a:srgbClr val="262B33"/>
                </a:solidFill>
                <a:latin typeface="Calibri"/>
              </a:rPr>
              <a:t>Data: 20,000-customer snapshot (30 Jun 2026) with July–September purchase outcomes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Calibri"/>
              </a:rPr>
              <a:t>•  </a:t>
            </a:r>
            <a:r>
              <a:rPr sz="1700" b="0">
                <a:solidFill>
                  <a:srgbClr val="262B33"/>
                </a:solidFill>
                <a:latin typeface="Calibri"/>
              </a:rPr>
              <a:t>Data quality: removed </a:t>
            </a:r>
            <a:r>
              <a:rPr sz="1700" b="1">
                <a:solidFill>
                  <a:srgbClr val="C25B12"/>
                </a:solidFill>
                <a:latin typeface="Calibri"/>
              </a:rPr>
              <a:t>[   ]</a:t>
            </a:r>
            <a:r>
              <a:rPr sz="1700" b="0">
                <a:solidFill>
                  <a:srgbClr val="262B33"/>
                </a:solidFill>
                <a:latin typeface="Calibri"/>
              </a:rPr>
              <a:t> duplicate rows (CRM merge); fixed mixed date formats, region labels and sentinel values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Calibri"/>
              </a:rPr>
              <a:t>•  </a:t>
            </a:r>
            <a:r>
              <a:rPr sz="1700" b="0">
                <a:solidFill>
                  <a:srgbClr val="262B33"/>
                </a:solidFill>
                <a:latin typeface="Calibri"/>
              </a:rPr>
              <a:t>Removed 2 fields that are only populated after a purchase (leakage) and gender (fair-treatment policy)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Calibri"/>
              </a:rPr>
              <a:t>•  </a:t>
            </a:r>
            <a:r>
              <a:rPr sz="1700" b="0">
                <a:solidFill>
                  <a:srgbClr val="262B33"/>
                </a:solidFill>
                <a:latin typeface="Calibri"/>
              </a:rPr>
              <a:t>Logistic-regression baseline → gradient boosting; evaluated on an untouched 20% hold-out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Calibri"/>
              </a:rPr>
              <a:t>•  </a:t>
            </a:r>
            <a:r>
              <a:rPr sz="1700" b="0">
                <a:solidFill>
                  <a:srgbClr val="262B33"/>
                </a:solidFill>
                <a:latin typeface="Calibri"/>
              </a:rPr>
              <a:t>Back-test: every customer scored by a model that never saw them (5-fold out-of-fold)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Model results (hold-out 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Cross-sell targeting model  ·  Data Science  ·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Calibri"/>
              </a:rPr>
              <a:t>ROC-AUC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25B12"/>
                </a:solidFill>
                <a:latin typeface="Calibri"/>
              </a:rPr>
              <a:t>[  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target ≥ 0.78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90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Calibri"/>
              </a:rPr>
              <a:t>PR-AUC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25B12"/>
                </a:solidFill>
                <a:latin typeface="Calibri"/>
              </a:rPr>
              <a:t>[   ]</a:t>
            </a:r>
            <a:r>
              <a:rPr sz="2400" b="0">
                <a:solidFill>
                  <a:srgbClr val="262B33"/>
                </a:solidFill>
                <a:latin typeface="Calibri"/>
              </a:rPr>
              <a:t>  vs </a:t>
            </a:r>
            <a:r>
              <a:rPr sz="2400" b="1">
                <a:solidFill>
                  <a:srgbClr val="C25B12"/>
                </a:solidFill>
                <a:latin typeface="Calibri"/>
              </a:rPr>
              <a:t>[   ]</a:t>
            </a:r>
            <a:r>
              <a:rPr sz="2400" b="0">
                <a:solidFill>
                  <a:srgbClr val="262B33"/>
                </a:solidFill>
                <a:latin typeface="Calibri"/>
              </a:rPr>
              <a:t>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679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random = 0.116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902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Calibri"/>
              </a:rPr>
              <a:t>Top-20% lift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25B12"/>
                </a:solidFill>
                <a:latin typeface="Calibri"/>
              </a:rPr>
              <a:t>[   ]×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681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target ≥ 2.5×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280160"/>
            <a:ext cx="7223760" cy="4617720"/>
          </a:xfrm>
          <a:prstGeom prst="rect">
            <a:avLst/>
          </a:prstGeom>
          <a:noFill/>
          <a:ln w="19050">
            <a:solidFill>
              <a:srgbClr val="C25B1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C25B12"/>
                </a:solidFill>
              </a:rPr>
              <a:t>Insert chart: 3_Intermediate / artifact 7 - charts / 05_lift_by_decile.png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Back-test and Q4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Cross-sell targeting model  ·  Data Science  ·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Calibri"/>
              </a:rPr>
              <a:t>Conversions (4,000 contacted)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25B12"/>
                </a:solidFill>
                <a:latin typeface="Calibri"/>
              </a:rPr>
              <a:t>[   ]</a:t>
            </a:r>
            <a:r>
              <a:rPr sz="2400" b="0">
                <a:solidFill>
                  <a:srgbClr val="262B33"/>
                </a:solidFill>
                <a:latin typeface="Calibri"/>
              </a:rPr>
              <a:t>  vs </a:t>
            </a:r>
            <a:r>
              <a:rPr sz="2400" b="1">
                <a:solidFill>
                  <a:srgbClr val="C25B12"/>
                </a:solidFill>
                <a:latin typeface="Calibri"/>
              </a:rPr>
              <a:t>[   ]</a:t>
            </a:r>
            <a:r>
              <a:rPr sz="2400" b="0">
                <a:solidFill>
                  <a:srgbClr val="262B33"/>
                </a:solidFill>
                <a:latin typeface="Calibri"/>
              </a:rPr>
              <a:t> random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actual Jul–Sep outcomes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90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Calibri"/>
              </a:rPr>
              <a:t>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25B12"/>
                </a:solidFill>
                <a:latin typeface="Calibri"/>
              </a:rPr>
              <a:t>$[   ]k</a:t>
            </a:r>
            <a:r>
              <a:rPr sz="2400" b="0">
                <a:solidFill>
                  <a:srgbClr val="262B33"/>
                </a:solidFill>
                <a:latin typeface="Calibri"/>
              </a:rPr>
              <a:t> vs </a:t>
            </a:r>
            <a:r>
              <a:rPr sz="2400" b="1">
                <a:solidFill>
                  <a:srgbClr val="C25B12"/>
                </a:solidFill>
                <a:latin typeface="Calibri"/>
              </a:rPr>
              <a:t>$[   ]k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679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conversions × $150 − $16k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902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Calibri"/>
              </a:rPr>
              <a:t>Conversion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25B12"/>
                </a:solidFill>
                <a:latin typeface="Calibri"/>
              </a:rPr>
              <a:t>[   ]%</a:t>
            </a:r>
            <a:r>
              <a:rPr sz="2400" b="0">
                <a:solidFill>
                  <a:srgbClr val="262B33"/>
                </a:solidFill>
                <a:latin typeface="Calibri"/>
              </a:rPr>
              <a:t> vs </a:t>
            </a:r>
            <a:r>
              <a:rPr sz="2400" b="1">
                <a:solidFill>
                  <a:srgbClr val="C25B12"/>
                </a:solidFill>
                <a:latin typeface="Calibri"/>
              </a:rPr>
              <a:t>[   ]%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681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target list vs eligible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234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What drives purchase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691640"/>
            <a:ext cx="7223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</a:t>
            </a:r>
            <a:r>
              <a:rPr sz="1600" b="1">
                <a:solidFill>
                  <a:srgbClr val="C25B12"/>
                </a:solidFill>
                <a:latin typeface="Calibri"/>
              </a:rPr>
              <a:t>[Driver 1 from SHAP]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</a:t>
            </a:r>
            <a:r>
              <a:rPr sz="1600" b="1">
                <a:solidFill>
                  <a:srgbClr val="C25B12"/>
                </a:solidFill>
                <a:latin typeface="Calibri"/>
              </a:rPr>
              <a:t>[Driver 2 from SHAP]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</a:t>
            </a:r>
            <a:r>
              <a:rPr sz="1600" b="1">
                <a:solidFill>
                  <a:srgbClr val="C25B12"/>
                </a:solidFill>
                <a:latin typeface="Calibri"/>
              </a:rPr>
              <a:t>[Driver 3 from SHAP]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84048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297680"/>
            <a:ext cx="7223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</a:t>
            </a:r>
            <a:r>
              <a:rPr sz="1500" b="0">
                <a:solidFill>
                  <a:srgbClr val="262B33"/>
                </a:solidFill>
                <a:latin typeface="Calibri"/>
              </a:rPr>
              <a:t>Select the Q4 list with the packaged model on the 30-Sep snapshot (opted-in, &lt; 2 complaints)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</a:t>
            </a:r>
            <a:r>
              <a:rPr sz="1500" b="0">
                <a:solidFill>
                  <a:srgbClr val="262B33"/>
                </a:solidFill>
                <a:latin typeface="Calibri"/>
              </a:rPr>
              <a:t>Tailor messaging to the drivers above; keep a 10% random control group to measure uplift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</a:t>
            </a:r>
            <a:r>
              <a:rPr sz="1500" b="0">
                <a:solidFill>
                  <a:srgbClr val="262B33"/>
                </a:solidFill>
                <a:latin typeface="Calibri"/>
              </a:rPr>
              <a:t>Re-validate each quarter: compare expected vs actual conversions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