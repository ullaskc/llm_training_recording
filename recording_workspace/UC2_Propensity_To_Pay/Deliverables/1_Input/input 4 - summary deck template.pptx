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Collections Prioritisation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Propensity to pay: out-of-time validation and the June agent work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8"/>
                </a:solidFill>
                <a:latin typeface="Calibri"/>
              </a:rPr>
              <a:t>Data Science  ·  For: Head of Collections Strategy  ·  September planning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Problem and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Collections prioritisation model  ·  Data Science  · 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Cure rates are falling every month and agents call the most overdue accounts first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Data: 20,000 accounts that entered collections January–June 2026, with 30-day payment outcomes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Data quality: </a:t>
            </a:r>
            <a:r>
              <a:rPr sz="1700" b="1">
                <a:solidFill>
                  <a:srgbClr val="C25B12"/>
                </a:solidFill>
                <a:latin typeface="Calibri"/>
              </a:rPr>
              <a:t>[   ]</a:t>
            </a:r>
            <a:r>
              <a:rPr sz="1700" b="0">
                <a:solidFill>
                  <a:srgbClr val="262B33"/>
                </a:solidFill>
                <a:latin typeface="Calibri"/>
              </a:rPr>
              <a:t> accounts removed (duplicates and business-rule violations); day-first dates and zero incomes fixed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Scored on day 7: removed 3 fields captured after the decision point (leakage)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Out of time: trained Jan–Apr, calibrated on May, tested on June; logistic baseline → gradient boosting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Model results (June, out of time)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Collections prioritisation model  ·  Data Science  · 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ROC-AUC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C25B12"/>
                </a:solidFill>
                <a:latin typeface="Calibri"/>
              </a:rPr>
              <a:t>[ 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677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target ≥ 0.78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900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PR-AUC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C25B12"/>
                </a:solidFill>
                <a:latin typeface="Calibri"/>
              </a:rPr>
              <a:t>[   ]</a:t>
            </a:r>
            <a:r>
              <a:rPr sz="2400" b="0">
                <a:solidFill>
                  <a:srgbClr val="262B33"/>
                </a:solidFill>
                <a:latin typeface="Calibri"/>
              </a:rPr>
              <a:t>  vs </a:t>
            </a:r>
            <a:r>
              <a:rPr sz="2400" b="1">
                <a:solidFill>
                  <a:srgbClr val="C25B12"/>
                </a:solidFill>
                <a:latin typeface="Calibri"/>
              </a:rPr>
              <a:t>[   ]</a:t>
            </a:r>
            <a:r>
              <a:rPr sz="2400" b="0">
                <a:solidFill>
                  <a:srgbClr val="262B33"/>
                </a:solidFill>
                <a:latin typeface="Calibri"/>
              </a:rPr>
              <a:t>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679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logistic regression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902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Predicted vs actual pay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25B12"/>
                </a:solidFill>
                <a:latin typeface="Calibri"/>
              </a:rPr>
              <a:t>[   ]%</a:t>
            </a:r>
            <a:r>
              <a:rPr sz="2000" b="0">
                <a:solidFill>
                  <a:srgbClr val="262B33"/>
                </a:solidFill>
                <a:latin typeface="Calibri"/>
              </a:rPr>
              <a:t> → </a:t>
            </a:r>
            <a:r>
              <a:rPr sz="2000" b="1">
                <a:solidFill>
                  <a:srgbClr val="C25B12"/>
                </a:solidFill>
                <a:latin typeface="Calibri"/>
              </a:rPr>
              <a:t>[   ]%</a:t>
            </a:r>
            <a:r>
              <a:rPr sz="2000" b="0">
                <a:solidFill>
                  <a:srgbClr val="262B33"/>
                </a:solidFill>
                <a:latin typeface="Calibri"/>
              </a:rPr>
              <a:t> vs </a:t>
            </a:r>
            <a:r>
              <a:rPr sz="2000" b="1">
                <a:solidFill>
                  <a:srgbClr val="C25B12"/>
                </a:solidFill>
                <a:latin typeface="Calibri"/>
              </a:rPr>
              <a:t>[   ]%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681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raw → calibrated vs actual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1280160"/>
            <a:ext cx="7223760" cy="4617720"/>
          </a:xfrm>
          <a:prstGeom prst="rect">
            <a:avLst/>
          </a:prstGeom>
          <a:noFill/>
          <a:ln w="19050">
            <a:solidFill>
              <a:srgbClr val="C25B1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C25B12"/>
                </a:solidFill>
              </a:rPr>
              <a:t>Insert chart: 3_Intermediate / artifact 7 - charts / 07_calibration.png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June agent work list and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Collections prioritisation model  ·  Data Science  · 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Unpaid amount covered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C25B12"/>
                </a:solidFill>
                <a:latin typeface="Calibri"/>
              </a:rPr>
              <a:t>[   ]%</a:t>
            </a:r>
            <a:r>
              <a:rPr sz="2400" b="0">
                <a:solidFill>
                  <a:srgbClr val="262B33"/>
                </a:solidFill>
                <a:latin typeface="Calibri"/>
              </a:rPr>
              <a:t> vs </a:t>
            </a:r>
            <a:r>
              <a:rPr sz="2400" b="1">
                <a:solidFill>
                  <a:srgbClr val="C25B12"/>
                </a:solidFill>
                <a:latin typeface="Calibri"/>
              </a:rPr>
              <a:t>[   ]%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677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model list vs highest-DPD-first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900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Accounts for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C25B12"/>
                </a:solidFill>
                <a:latin typeface="Calibri"/>
              </a:rPr>
              <a:t>[   ]</a:t>
            </a:r>
            <a:r>
              <a:rPr sz="2400" b="0">
                <a:solidFill>
                  <a:srgbClr val="262B33"/>
                </a:solidFill>
                <a:latin typeface="Calibri"/>
              </a:rPr>
              <a:t> of </a:t>
            </a:r>
            <a:r>
              <a:rPr sz="2400" b="1">
                <a:solidFill>
                  <a:srgbClr val="C25B12"/>
                </a:solidFill>
                <a:latin typeface="Calibri"/>
              </a:rPr>
              <a:t>[  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679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37% capacity, June cohort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902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Specialist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C25B12"/>
                </a:solidFill>
                <a:latin typeface="Calibri"/>
              </a:rPr>
              <a:t>[   ]</a:t>
            </a:r>
            <a:r>
              <a:rPr sz="2400" b="0">
                <a:solidFill>
                  <a:srgbClr val="262B33"/>
                </a:solidFill>
                <a:latin typeface="Calibri"/>
              </a:rPr>
              <a:t> accounts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681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open dispute or hardship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1234440"/>
            <a:ext cx="7223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What drives payment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1691640"/>
            <a:ext cx="7223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1">
                <a:solidFill>
                  <a:srgbClr val="C25B12"/>
                </a:solidFill>
                <a:latin typeface="Calibri"/>
              </a:rPr>
              <a:t>[Driver 1 from SHAP]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1">
                <a:solidFill>
                  <a:srgbClr val="C25B12"/>
                </a:solidFill>
                <a:latin typeface="Calibri"/>
              </a:rPr>
              <a:t>[Driver 2 from SHAP]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1">
                <a:solidFill>
                  <a:srgbClr val="C25B12"/>
                </a:solidFill>
                <a:latin typeface="Calibri"/>
              </a:rPr>
              <a:t>[Driver 3 from SHAP]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840480"/>
            <a:ext cx="7223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Recommendation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297680"/>
            <a:ext cx="7223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Give agents the top 37% by expected unpaid amount; nudge the rest by SMS / app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Re-calibrate monthly (pay rates keep falling, BNPL fastest); retrain quarterly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Track covered unpaid amount vs the old rule each month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