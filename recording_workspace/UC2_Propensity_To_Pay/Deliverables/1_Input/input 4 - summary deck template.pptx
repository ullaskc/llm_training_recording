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Collections Prioritisation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Propensity to pay: out-of-time validation and the June agent work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6E8"/>
                </a:solidFill>
                <a:latin typeface="Calibri"/>
              </a:rPr>
              <a:t>Data Science  ·  For: Head of Collections Strategy  ·  September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Problem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Collections prioritisation model  ·  Data Science  ·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Cure rates are falling every month and agents call the most overdue accounts first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Data: 20,000 accounts that entered collections January–June 2026, with 30-day payment outcomes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Data quality: </a:t>
            </a:r>
            <a:r>
              <a:rPr sz="1700" b="1">
                <a:solidFill>
                  <a:srgbClr val="C25B12"/>
                </a:solidFill>
                <a:latin typeface="Calibri"/>
              </a:rPr>
              <a:t>[   ]</a:t>
            </a:r>
            <a:r>
              <a:rPr sz="1700" b="0">
                <a:solidFill>
                  <a:srgbClr val="262B33"/>
                </a:solidFill>
                <a:latin typeface="Calibri"/>
              </a:rPr>
              <a:t> accounts removed (duplicates and business-rule violations); day-first dates and zero incomes fixed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Scored on day 7: removed 3 fields captured after the decision point (leakage)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</a:t>
            </a:r>
            <a:r>
              <a:rPr sz="1700" b="0">
                <a:solidFill>
                  <a:srgbClr val="262B33"/>
                </a:solidFill>
                <a:latin typeface="Calibri"/>
              </a:rPr>
              <a:t>Out of time: trained Jan–Apr, calibrated on May, tested on June; logistic baseline → gradient boosting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Model results (June, out of time)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Collections prioritisation model  ·  Data Science  ·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target ≥ 0.78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PR-AUC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 vs </a:t>
            </a: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67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logistic regression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Predicted vs actual pay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25B12"/>
                </a:solidFill>
                <a:latin typeface="Calibri"/>
              </a:rPr>
              <a:t>[   ]%</a:t>
            </a:r>
            <a:r>
              <a:rPr sz="2000" b="0">
                <a:solidFill>
                  <a:srgbClr val="262B33"/>
                </a:solidFill>
                <a:latin typeface="Calibri"/>
              </a:rPr>
              <a:t> → </a:t>
            </a:r>
            <a:r>
              <a:rPr sz="2000" b="1">
                <a:solidFill>
                  <a:srgbClr val="C25B12"/>
                </a:solidFill>
                <a:latin typeface="Calibri"/>
              </a:rPr>
              <a:t>[   ]%</a:t>
            </a:r>
            <a:r>
              <a:rPr sz="2000" b="0">
                <a:solidFill>
                  <a:srgbClr val="262B33"/>
                </a:solidFill>
                <a:latin typeface="Calibri"/>
              </a:rPr>
              <a:t> vs </a:t>
            </a:r>
            <a:r>
              <a:rPr sz="2000" b="1">
                <a:solidFill>
                  <a:srgbClr val="C25B12"/>
                </a:solidFill>
                <a:latin typeface="Calibri"/>
              </a:rPr>
              <a:t>[   ]%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raw → calibrated vs 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80160"/>
            <a:ext cx="7223760" cy="4617720"/>
          </a:xfrm>
          <a:prstGeom prst="rect">
            <a:avLst/>
          </a:prstGeom>
          <a:noFill/>
          <a:ln w="19050">
            <a:solidFill>
              <a:srgbClr val="C25B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25B12"/>
                </a:solidFill>
              </a:rPr>
              <a:t>Insert chart: 3_Intermediate / artifact 7 - evaluation charts / calibration.png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June agent work list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Collections prioritisation model  ·  Data Science  · 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Unpaid amount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]%</a:t>
            </a:r>
            <a:r>
              <a:rPr sz="2400" b="0">
                <a:solidFill>
                  <a:srgbClr val="262B33"/>
                </a:solidFill>
                <a:latin typeface="Calibri"/>
              </a:rPr>
              <a:t> vs </a:t>
            </a:r>
            <a:r>
              <a:rPr sz="2400" b="1">
                <a:solidFill>
                  <a:srgbClr val="C25B12"/>
                </a:solidFill>
                <a:latin typeface="Calibri"/>
              </a:rPr>
              <a:t>[   ]%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model list vs highest-DPD-first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Accounts for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of </a:t>
            </a: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67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37% capacity, June cohort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A"/>
                </a:solidFill>
                <a:latin typeface="Calibri"/>
              </a:rPr>
              <a:t>Specialist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25B12"/>
                </a:solidFill>
                <a:latin typeface="Calibri"/>
              </a:rPr>
              <a:t>[   ]</a:t>
            </a:r>
            <a:r>
              <a:rPr sz="2400" b="0">
                <a:solidFill>
                  <a:srgbClr val="262B33"/>
                </a:solidFill>
                <a:latin typeface="Calibri"/>
              </a:rPr>
              <a:t>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B7A"/>
                </a:solidFill>
                <a:latin typeface="Calibri"/>
              </a:rPr>
              <a:t>open dispute or hardship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234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What drives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691640"/>
            <a:ext cx="7223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</a:t>
            </a:r>
            <a:r>
              <a:rPr sz="1600" b="1">
                <a:solidFill>
                  <a:srgbClr val="C25B12"/>
                </a:solidFill>
                <a:latin typeface="Calibri"/>
              </a:rPr>
              <a:t>[Driver 1 from SHAP]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</a:t>
            </a:r>
            <a:r>
              <a:rPr sz="1600" b="1">
                <a:solidFill>
                  <a:srgbClr val="C25B12"/>
                </a:solidFill>
                <a:latin typeface="Calibri"/>
              </a:rPr>
              <a:t>[Driver 2 from SHAP]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</a:t>
            </a:r>
            <a:r>
              <a:rPr sz="1600" b="1">
                <a:solidFill>
                  <a:srgbClr val="C25B12"/>
                </a:solidFill>
                <a:latin typeface="Calibri"/>
              </a:rPr>
              <a:t>[Driver 3 from SHAP]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4048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97680"/>
            <a:ext cx="7223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</a:t>
            </a:r>
            <a:r>
              <a:rPr sz="1500" b="0">
                <a:solidFill>
                  <a:srgbClr val="262B33"/>
                </a:solidFill>
                <a:latin typeface="Calibri"/>
              </a:rPr>
              <a:t>Give agents the top 37% by expected unpaid amount; nudge the rest by SMS / app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</a:t>
            </a:r>
            <a:r>
              <a:rPr sz="1500" b="0">
                <a:solidFill>
                  <a:srgbClr val="262B33"/>
                </a:solidFill>
                <a:latin typeface="Calibri"/>
              </a:rPr>
              <a:t>Re-calibrate monthly (pay rates keep falling, BNPL fastest); retrain quarterly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</a:t>
            </a:r>
            <a:r>
              <a:rPr sz="1500" b="0">
                <a:solidFill>
                  <a:srgbClr val="262B33"/>
                </a:solidFill>
                <a:latin typeface="Calibri"/>
              </a:rPr>
              <a:t>Track covered unpaid amount vs the old rule each 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